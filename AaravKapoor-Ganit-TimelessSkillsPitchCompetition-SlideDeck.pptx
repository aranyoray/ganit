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oboto Mono Medium"/>
      <p:regular r:id="rId15"/>
      <p:bold r:id="rId16"/>
      <p:italic r:id="rId17"/>
      <p:boldItalic r:id="rId18"/>
    </p:embeddedFont>
    <p:embeddedFont>
      <p:font typeface="Inter SemiBold"/>
      <p:regular r:id="rId19"/>
      <p:bold r:id="rId20"/>
      <p:italic r:id="rId21"/>
      <p:boldItalic r:id="rId22"/>
    </p:embeddedFont>
    <p:embeddedFont>
      <p:font typeface="EB Garamond Medium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Manrope"/>
      <p:regular r:id="rId31"/>
      <p:bold r:id="rId32"/>
    </p:embeddedFont>
    <p:embeddedFont>
      <p:font typeface="EB Garamond SemiBold"/>
      <p:regular r:id="rId33"/>
      <p:bold r:id="rId34"/>
      <p:italic r:id="rId35"/>
      <p:boldItalic r:id="rId36"/>
    </p:embeddedFont>
    <p:embeddedFont>
      <p:font typeface="Manrope ExtraBold"/>
      <p:bold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Inter Medium"/>
      <p:regular r:id="rId42"/>
      <p:bold r:id="rId43"/>
      <p:italic r:id="rId44"/>
      <p:boldItalic r:id="rId45"/>
    </p:embeddedFont>
    <p:embeddedFont>
      <p:font typeface="Inter Black"/>
      <p:bold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font" Target="fonts/InterSemiBold-bold.fntdata"/><Relationship Id="rId42" Type="http://schemas.openxmlformats.org/officeDocument/2006/relationships/font" Target="fonts/InterMedium-regular.fntdata"/><Relationship Id="rId41" Type="http://schemas.openxmlformats.org/officeDocument/2006/relationships/font" Target="fonts/RobotoMono-boldItalic.fntdata"/><Relationship Id="rId22" Type="http://schemas.openxmlformats.org/officeDocument/2006/relationships/font" Target="fonts/InterSemiBold-boldItalic.fntdata"/><Relationship Id="rId44" Type="http://schemas.openxmlformats.org/officeDocument/2006/relationships/font" Target="fonts/InterMedium-italic.fntdata"/><Relationship Id="rId21" Type="http://schemas.openxmlformats.org/officeDocument/2006/relationships/font" Target="fonts/InterSemiBold-italic.fntdata"/><Relationship Id="rId43" Type="http://schemas.openxmlformats.org/officeDocument/2006/relationships/font" Target="fonts/InterMedium-bold.fntdata"/><Relationship Id="rId24" Type="http://schemas.openxmlformats.org/officeDocument/2006/relationships/font" Target="fonts/EBGaramondMedium-bold.fntdata"/><Relationship Id="rId46" Type="http://schemas.openxmlformats.org/officeDocument/2006/relationships/font" Target="fonts/InterBlack-bold.fntdata"/><Relationship Id="rId23" Type="http://schemas.openxmlformats.org/officeDocument/2006/relationships/font" Target="fonts/EBGaramondMedium-regular.fntdata"/><Relationship Id="rId45" Type="http://schemas.openxmlformats.org/officeDocument/2006/relationships/font" Target="fonts/Inter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BGaramondMedium-boldItalic.fntdata"/><Relationship Id="rId25" Type="http://schemas.openxmlformats.org/officeDocument/2006/relationships/font" Target="fonts/EBGaramondMedium-italic.fntdata"/><Relationship Id="rId47" Type="http://schemas.openxmlformats.org/officeDocument/2006/relationships/font" Target="fonts/InterBlack-bold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anrope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7.xml"/><Relationship Id="rId33" Type="http://schemas.openxmlformats.org/officeDocument/2006/relationships/font" Target="fonts/EBGaramondSemiBold-regular.fntdata"/><Relationship Id="rId10" Type="http://schemas.openxmlformats.org/officeDocument/2006/relationships/slide" Target="slides/slide6.xml"/><Relationship Id="rId32" Type="http://schemas.openxmlformats.org/officeDocument/2006/relationships/font" Target="fonts/Manrope-bold.fntdata"/><Relationship Id="rId13" Type="http://schemas.openxmlformats.org/officeDocument/2006/relationships/slide" Target="slides/slide9.xml"/><Relationship Id="rId35" Type="http://schemas.openxmlformats.org/officeDocument/2006/relationships/font" Target="fonts/EBGaramondSemiBold-italic.fntdata"/><Relationship Id="rId12" Type="http://schemas.openxmlformats.org/officeDocument/2006/relationships/slide" Target="slides/slide8.xml"/><Relationship Id="rId34" Type="http://schemas.openxmlformats.org/officeDocument/2006/relationships/font" Target="fonts/EBGaramondSemiBold-bold.fntdata"/><Relationship Id="rId15" Type="http://schemas.openxmlformats.org/officeDocument/2006/relationships/font" Target="fonts/RobotoMonoMedium-regular.fntdata"/><Relationship Id="rId37" Type="http://schemas.openxmlformats.org/officeDocument/2006/relationships/font" Target="fonts/ManropeExtraBold-bold.fntdata"/><Relationship Id="rId14" Type="http://schemas.openxmlformats.org/officeDocument/2006/relationships/slide" Target="slides/slide10.xml"/><Relationship Id="rId36" Type="http://schemas.openxmlformats.org/officeDocument/2006/relationships/font" Target="fonts/EBGaramondSemiBold-boldItalic.fntdata"/><Relationship Id="rId17" Type="http://schemas.openxmlformats.org/officeDocument/2006/relationships/font" Target="fonts/RobotoMonoMedium-italic.fntdata"/><Relationship Id="rId39" Type="http://schemas.openxmlformats.org/officeDocument/2006/relationships/font" Target="fonts/RobotoMono-bold.fntdata"/><Relationship Id="rId16" Type="http://schemas.openxmlformats.org/officeDocument/2006/relationships/font" Target="fonts/RobotoMonoMedium-bold.fntdata"/><Relationship Id="rId38" Type="http://schemas.openxmlformats.org/officeDocument/2006/relationships/font" Target="fonts/RobotoMono-regular.fntdata"/><Relationship Id="rId19" Type="http://schemas.openxmlformats.org/officeDocument/2006/relationships/font" Target="fonts/InterSemiBold-regular.fntdata"/><Relationship Id="rId18" Type="http://schemas.openxmlformats.org/officeDocument/2006/relationships/font" Target="fonts/RobotoMono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5f43f0f6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5f43f0f6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813f715e3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813f715e3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1: Who I Am &amp; What I Built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My Project in an AI-Driven World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Name, age, school</a:t>
            </a:r>
            <a:b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One-sentence project summary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: What did you create, and what problem does it solve?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 inspired you?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Connect your project to a personal interest, community need, or world challenge.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Optional: Add a compelling image or short quote that captures your motivation.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5f43f0f65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5f43f0f65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2: My Process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The process behind the project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4babd1a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4babd1a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2: My Process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The process behind the project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4d9089c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4d9089c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2: My Process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The process behind the project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c31632d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c31632d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2: My Process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The process behind the project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5f43f0f65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5f43f0f65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3: My Growth &amp; Learnings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Learning by Doing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Walk us through your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growth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: iterations, setbacks, breakthroughs.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 skills did you develop that can’t be automated? (e.g., perseverance, focus, time management)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Include 1–2 visual artifacts (early notes, rough drafts, prototypes).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Reflect on how your mindset or abilities evolved through the experience.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📌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Timeless Skills: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Growth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Grit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Discipline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— Mastery comes from showing up again and again.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5f43f0f6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5f43f0f6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4: Thinking Differently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How I Solved This in My Own Way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Describe your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unique approach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to the problem.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 tools or resources did you use?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How did you apply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critical thinking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to uncover new possibilities?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If AI was involved, how did you guide it or push beyond its limits?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📌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Timeless Skills: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Creativity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&amp;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Critical Thinking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— Asking better questions and charting your own path.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5f43f0f6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5f43f0f6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5: Real-World Impact &amp; What’s Next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Why It Matters—Now and Tomorrow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Who did this project help or inspire? Include real-world feedback or results if available.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What’s your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vision for the future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of this project?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How would you use the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$1,000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to scale or deepen your impact? (e.g., build a prototype, host an event, share it more widely)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How could this evolve in a world increasingly shaped by AI?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📌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Timeless Skills: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Agency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Initiative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and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Systems Thinking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— Turning ideas into change.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5f43f0f6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5f43f0f6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Slide 6 (Optional): My Why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Title: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 This Taught Me About Being Human</a:t>
            </a:r>
            <a:endParaRPr i="1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What’s one powerful insight or emotion you’ll carry forward?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 quote, mantra, or personal story that encapsulates your journey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How has this experience changed the way you see yourself as a learner, creator, or leader?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nrope"/>
              <a:buChar char="●"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What would you tell someone else starting their journey of learning or building in an AI world?</a:t>
            </a:r>
            <a:b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📌 </a:t>
            </a:r>
            <a:r>
              <a:rPr i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Timeless Skill: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Storytelling</a:t>
            </a:r>
            <a:r>
              <a:rPr lang="en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— Inspiring others by being real and reflective.</a:t>
            </a:r>
            <a:endParaRPr b="1" sz="13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ganit-phi.vercel.app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451975" y="562050"/>
            <a:ext cx="56634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GANIT - GenAI Adaptive Numeracy Improvement and Training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Aarav Kapoor</a:t>
            </a:r>
            <a:endParaRPr b="1"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Grade 5, Bullis Charter School</a:t>
            </a:r>
            <a:endParaRPr sz="2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5" name="Google Shape;55;p13" title="Virtual event slide 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725" y="1482852"/>
            <a:ext cx="6100275" cy="343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12968" l="0" r="8826" t="0"/>
          <a:stretch/>
        </p:blipFill>
        <p:spPr>
          <a:xfrm>
            <a:off x="451975" y="2823050"/>
            <a:ext cx="2591751" cy="204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 flipH="1" rot="5400000">
            <a:off x="3966197" y="-68553"/>
            <a:ext cx="5143500" cy="5280606"/>
          </a:xfrm>
          <a:prstGeom prst="flowChartDocument">
            <a:avLst/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63" name="Google Shape;63;p14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01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92250" y="198500"/>
            <a:ext cx="46674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WHO </a:t>
            </a:r>
            <a:r>
              <a:rPr i="1" lang="en" sz="5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 AM</a:t>
            </a:r>
            <a:endParaRPr i="1" sz="5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solidFill>
                <a:srgbClr val="111827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WHAT</a:t>
            </a:r>
            <a:r>
              <a:rPr lang="en" sz="4300">
                <a:solidFill>
                  <a:srgbClr val="111827"/>
                </a:solidFill>
                <a:latin typeface="Inter Black"/>
                <a:ea typeface="Inter Black"/>
                <a:cs typeface="Inter Black"/>
                <a:sym typeface="Inter Black"/>
              </a:rPr>
              <a:t> </a:t>
            </a:r>
            <a:r>
              <a:rPr i="1" lang="en" sz="5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 BUILT</a:t>
            </a:r>
            <a:endParaRPr i="1" sz="5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5031000" y="299125"/>
            <a:ext cx="3467100" cy="1226075"/>
            <a:chOff x="424875" y="1011350"/>
            <a:chExt cx="3467100" cy="1226075"/>
          </a:xfrm>
        </p:grpSpPr>
        <p:sp>
          <p:nvSpPr>
            <p:cNvPr id="67" name="Google Shape;67;p14"/>
            <p:cNvSpPr/>
            <p:nvPr/>
          </p:nvSpPr>
          <p:spPr>
            <a:xfrm>
              <a:off x="424875" y="1204825"/>
              <a:ext cx="3467100" cy="1032600"/>
            </a:xfrm>
            <a:prstGeom prst="roundRect">
              <a:avLst>
                <a:gd fmla="val 13304" name="adj"/>
              </a:avLst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Inter Medium"/>
                  <a:ea typeface="Inter Medium"/>
                  <a:cs typeface="Inter Medium"/>
                  <a:sym typeface="Inter Medium"/>
                </a:rPr>
                <a:t>Aarav Kapoor</a:t>
              </a:r>
              <a:endParaRPr sz="1300"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Inter Medium"/>
                  <a:ea typeface="Inter Medium"/>
                  <a:cs typeface="Inter Medium"/>
                  <a:sym typeface="Inter Medium"/>
                </a:rPr>
                <a:t>Grade 5, Bullis Charter School</a:t>
              </a:r>
              <a:endParaRPr sz="1300"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latin typeface="Inter Medium"/>
                  <a:ea typeface="Inter Medium"/>
                  <a:cs typeface="Inter Medium"/>
                  <a:sym typeface="Inter Medium"/>
                </a:rPr>
                <a:t>Spring 2026</a:t>
              </a:r>
              <a:endParaRPr sz="1300"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95450" y="1011350"/>
              <a:ext cx="1185000" cy="316500"/>
            </a:xfrm>
            <a:prstGeom prst="roundRect">
              <a:avLst>
                <a:gd fmla="val 50000" name="adj"/>
              </a:avLst>
            </a:prstGeom>
            <a:solidFill>
              <a:srgbClr val="F87171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600">
                  <a:latin typeface="EB Garamond SemiBold"/>
                  <a:ea typeface="EB Garamond SemiBold"/>
                  <a:cs typeface="EB Garamond SemiBold"/>
                  <a:sym typeface="EB Garamond SemiBold"/>
                </a:rPr>
                <a:t>Who am I</a:t>
              </a:r>
              <a:endParaRPr i="1" sz="1600">
                <a:latin typeface="EB Garamond SemiBold"/>
                <a:ea typeface="EB Garamond SemiBold"/>
                <a:cs typeface="EB Garamond SemiBold"/>
                <a:sym typeface="EB Garamond SemiBold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5031000" y="1709850"/>
            <a:ext cx="3467100" cy="2736772"/>
            <a:chOff x="424875" y="2497714"/>
            <a:chExt cx="3467100" cy="2969910"/>
          </a:xfrm>
        </p:grpSpPr>
        <p:sp>
          <p:nvSpPr>
            <p:cNvPr id="70" name="Google Shape;70;p14"/>
            <p:cNvSpPr/>
            <p:nvPr/>
          </p:nvSpPr>
          <p:spPr>
            <a:xfrm>
              <a:off x="424875" y="2674024"/>
              <a:ext cx="3467100" cy="2793600"/>
            </a:xfrm>
            <a:prstGeom prst="roundRect">
              <a:avLst>
                <a:gd fmla="val 13304" name="adj"/>
              </a:avLst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GANIT is an AI + AR mobile math app built to help children with dyscalculia, ADHD, autism, and math anxiety learn through stories, visuals, and small calm steps.</a:t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Using Socratic methods and immersive learning, GANIT makes math fun, going beyond traditional practice to </a:t>
              </a:r>
              <a:r>
                <a:rPr b="1" lang="en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exploration</a:t>
              </a:r>
              <a:r>
                <a:rPr lang="en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It is available as a web app and on the iOS App Store. The Android app is being prototyped.</a:t>
              </a:r>
              <a:endPara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595450" y="2497714"/>
              <a:ext cx="1764000" cy="316500"/>
            </a:xfrm>
            <a:prstGeom prst="roundRect">
              <a:avLst>
                <a:gd fmla="val 50000" name="adj"/>
              </a:avLst>
            </a:prstGeom>
            <a:solidFill>
              <a:srgbClr val="F87171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600">
                  <a:latin typeface="EB Garamond SemiBold"/>
                  <a:ea typeface="EB Garamond SemiBold"/>
                  <a:cs typeface="EB Garamond SemiBold"/>
                  <a:sym typeface="EB Garamond SemiBold"/>
                </a:rPr>
                <a:t>Project Summary</a:t>
              </a:r>
              <a:endParaRPr i="1" sz="1600">
                <a:latin typeface="EB Garamond SemiBold"/>
                <a:ea typeface="EB Garamond SemiBold"/>
                <a:cs typeface="EB Garamond SemiBold"/>
                <a:sym typeface="EB Garamond SemiBold"/>
              </a:endParaRPr>
            </a:p>
          </p:txBody>
        </p:sp>
      </p:grp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50" y="1563125"/>
            <a:ext cx="3205250" cy="312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105100" y="234600"/>
            <a:ext cx="798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MY</a:t>
            </a:r>
            <a:r>
              <a:rPr lang="en" sz="4300">
                <a:solidFill>
                  <a:srgbClr val="111827"/>
                </a:solidFill>
                <a:latin typeface="Inter Black"/>
                <a:ea typeface="Inter Black"/>
                <a:cs typeface="Inter Black"/>
                <a:sym typeface="Inter Black"/>
              </a:rPr>
              <a:t> </a:t>
            </a:r>
            <a:r>
              <a:rPr i="1" lang="en" sz="5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Process</a:t>
            </a:r>
            <a:endParaRPr i="1" sz="5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79" name="Google Shape;79;p15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02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sp>
        <p:nvSpPr>
          <p:cNvPr id="81" name="Google Shape;81;p15"/>
          <p:cNvSpPr/>
          <p:nvPr/>
        </p:nvSpPr>
        <p:spPr>
          <a:xfrm>
            <a:off x="415075" y="1090900"/>
            <a:ext cx="2722500" cy="3594300"/>
          </a:xfrm>
          <a:prstGeom prst="roundRect">
            <a:avLst>
              <a:gd fmla="val 13304" name="adj"/>
            </a:avLst>
          </a:prstGeom>
          <a:solidFill>
            <a:srgbClr val="FDE68A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1 in 5 children in the US experience arithmetic differences.</a:t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I interviewed 6 friends about main issues with existing math apps.</a:t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Medium"/>
              <a:buChar char="●"/>
            </a:pP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What is your favorite game?</a:t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Medium"/>
              <a:buChar char="●"/>
            </a:pP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What do you think about this app</a:t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Medium"/>
              <a:buChar char="●"/>
            </a:pP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Line rider vs. Spaceship game (Reward system for the app)</a:t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Medium"/>
              <a:buChar char="●"/>
            </a:pP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Friends said “</a:t>
            </a: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Addition is scary”, “Multiplication confuses me”</a:t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Medium"/>
              <a:buChar char="●"/>
            </a:pPr>
            <a:r>
              <a:rPr lang="en" sz="1100">
                <a:latin typeface="Inter Medium"/>
                <a:ea typeface="Inter Medium"/>
                <a:cs typeface="Inter Medium"/>
                <a:sym typeface="Inter Medium"/>
              </a:rPr>
              <a:t>“UGH” is said all the time!</a:t>
            </a:r>
            <a:endParaRPr sz="11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852613" y="955550"/>
            <a:ext cx="1569300" cy="278100"/>
          </a:xfrm>
          <a:prstGeom prst="roundRect">
            <a:avLst>
              <a:gd fmla="val 50000" name="adj"/>
            </a:avLst>
          </a:prstGeom>
          <a:solidFill>
            <a:srgbClr val="F87171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EB Garamond SemiBold"/>
                <a:ea typeface="EB Garamond SemiBold"/>
                <a:cs typeface="EB Garamond SemiBold"/>
                <a:sym typeface="EB Garamond SemiBold"/>
              </a:rPr>
              <a:t>The Problem</a:t>
            </a:r>
            <a:endParaRPr i="1" sz="16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3188748" y="1090900"/>
            <a:ext cx="2609400" cy="3594300"/>
          </a:xfrm>
          <a:prstGeom prst="roundRect">
            <a:avLst>
              <a:gd fmla="val 13304" name="adj"/>
            </a:avLst>
          </a:prstGeom>
          <a:solidFill>
            <a:srgbClr val="FDE68A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 Medium"/>
                <a:ea typeface="Inter Medium"/>
                <a:cs typeface="Inter Medium"/>
                <a:sym typeface="Inter Medium"/>
              </a:rPr>
              <a:t>Found that no app combined generative AI + AR + story-based mini lessons for learners with dyscalculia, ADHD, or math anxiety.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 Medium"/>
                <a:ea typeface="Inter Medium"/>
                <a:cs typeface="Inter Medium"/>
                <a:sym typeface="Inter Medium"/>
              </a:rPr>
              <a:t>Can bringing tactile and 360° math experiences to every smartphone make math magical?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708802" y="1000667"/>
            <a:ext cx="1569300" cy="278100"/>
          </a:xfrm>
          <a:prstGeom prst="roundRect">
            <a:avLst>
              <a:gd fmla="val 50000" name="adj"/>
            </a:avLst>
          </a:prstGeom>
          <a:solidFill>
            <a:srgbClr val="F87171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EB Garamond SemiBold"/>
                <a:ea typeface="EB Garamond SemiBold"/>
                <a:cs typeface="EB Garamond SemiBold"/>
                <a:sym typeface="EB Garamond SemiBold"/>
              </a:rPr>
              <a:t>The Idea</a:t>
            </a:r>
            <a:endParaRPr i="1" sz="16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5795125" y="1090900"/>
            <a:ext cx="3072900" cy="3594300"/>
          </a:xfrm>
          <a:prstGeom prst="roundRect">
            <a:avLst>
              <a:gd fmla="val 13304" name="adj"/>
            </a:avLst>
          </a:prstGeom>
          <a:solidFill>
            <a:srgbClr val="FDE68A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 Medium"/>
                <a:ea typeface="Inter Medium"/>
                <a:cs typeface="Inter Medium"/>
                <a:sym typeface="Inter Medium"/>
              </a:rPr>
              <a:t>Built early prototypes, tested with classmates, iterated on feedback. 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 Medium"/>
                <a:ea typeface="Inter Medium"/>
                <a:cs typeface="Inter Medium"/>
                <a:sym typeface="Inter Medium"/>
              </a:rPr>
              <a:t>AR boot time fixed, placement UX (Flow of app) redesigned, deprecated library replaced.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 Medium"/>
                <a:ea typeface="Inter Medium"/>
                <a:cs typeface="Inter Medium"/>
                <a:sym typeface="Inter Medium"/>
              </a:rPr>
              <a:t>Quest-Based Learning: Missions instead of worksheets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 Medium"/>
                <a:ea typeface="Inter Medium"/>
                <a:cs typeface="Inter Medium"/>
                <a:sym typeface="Inter Medium"/>
              </a:rPr>
              <a:t>Visual &amp; Colorful: Big number blocks, drag-and-drop groups, slow animations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 Medium"/>
                <a:ea typeface="Inter Medium"/>
                <a:cs typeface="Inter Medium"/>
                <a:sym typeface="Inter Medium"/>
              </a:rPr>
              <a:t>Adaptive: adjusts to each student's speed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 Medium"/>
                <a:ea typeface="Inter Medium"/>
                <a:cs typeface="Inter Medium"/>
                <a:sym typeface="Inter Medium"/>
              </a:rPr>
              <a:t>Kind &amp; Supportive: Calming messages, no rushing, no judgment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 Medium"/>
                <a:ea typeface="Inter Medium"/>
                <a:cs typeface="Inter Medium"/>
                <a:sym typeface="Inter Medium"/>
              </a:rPr>
              <a:t>Built for Neurodiversity: Designed for kids with dyscalculia, ADHD, autism, and math anxiety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Inter Medium"/>
                <a:ea typeface="Inter Medium"/>
                <a:cs typeface="Inter Medium"/>
                <a:sym typeface="Inter Medium"/>
              </a:rPr>
              <a:t>Rewards &amp; Customization: Line rider videos</a:t>
            </a:r>
            <a:endParaRPr sz="10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722045" y="1000654"/>
            <a:ext cx="1569300" cy="278100"/>
          </a:xfrm>
          <a:prstGeom prst="roundRect">
            <a:avLst>
              <a:gd fmla="val 50000" name="adj"/>
            </a:avLst>
          </a:prstGeom>
          <a:solidFill>
            <a:srgbClr val="F87171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EB Garamond SemiBold"/>
                <a:ea typeface="EB Garamond SemiBold"/>
                <a:cs typeface="EB Garamond SemiBold"/>
                <a:sym typeface="EB Garamond SemiBold"/>
              </a:rPr>
              <a:t>Iterations</a:t>
            </a:r>
            <a:endParaRPr i="1" sz="16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105100" y="234600"/>
            <a:ext cx="798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MY</a:t>
            </a:r>
            <a:r>
              <a:rPr lang="en" sz="4300">
                <a:solidFill>
                  <a:srgbClr val="111827"/>
                </a:solidFill>
                <a:latin typeface="Inter Black"/>
                <a:ea typeface="Inter Black"/>
                <a:cs typeface="Inter Black"/>
                <a:sym typeface="Inter Black"/>
              </a:rPr>
              <a:t> </a:t>
            </a:r>
            <a:r>
              <a:rPr i="1" lang="en" sz="5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Process</a:t>
            </a:r>
            <a:endParaRPr i="1" sz="5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92" name="Google Shape;92;p16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93" name="Google Shape;93;p16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03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0" y="1189989"/>
            <a:ext cx="2214600" cy="3217636"/>
            <a:chOff x="0" y="1189989"/>
            <a:chExt cx="2214600" cy="3217636"/>
          </a:xfrm>
        </p:grpSpPr>
        <p:sp>
          <p:nvSpPr>
            <p:cNvPr id="96" name="Google Shape;96;p16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Literature Review</a:t>
              </a:r>
              <a:endParaRPr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I interviewed 3-4 first &amp; second graders, along with interviewing a 5th grade friend. This helped me with my reward system.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Researched dyscalculia &amp; math anxiety (PubMed, IEEE, Google Scholar). 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1838325" y="1189775"/>
            <a:ext cx="2064000" cy="3217850"/>
            <a:chOff x="1838325" y="1189775"/>
            <a:chExt cx="2064000" cy="3217850"/>
          </a:xfrm>
        </p:grpSpPr>
        <p:sp>
          <p:nvSpPr>
            <p:cNvPr id="99" name="Google Shape;99;p16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Finalizing idea/features</a:t>
              </a:r>
              <a:endParaRPr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Getting the idea of what the app is going to be about, starting the </a:t>
              </a: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journey</a:t>
              </a: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 of GANIT.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- </a:t>
              </a: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Finalizing details for how the app would teach math </a:t>
              </a: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differently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- Starting to develop a “game plan”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3516750" y="1189775"/>
            <a:ext cx="2064000" cy="3217850"/>
            <a:chOff x="3516750" y="1189775"/>
            <a:chExt cx="2064000" cy="3217850"/>
          </a:xfrm>
        </p:grpSpPr>
        <p:sp>
          <p:nvSpPr>
            <p:cNvPr id="102" name="Google Shape;102;p16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Building the app</a:t>
              </a:r>
              <a:endParaRPr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3739450" y="2057125"/>
              <a:ext cx="17181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C</a:t>
              </a: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oded to have many features to make it accessible to many people.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Used RealityKit, ARKit, UIKit packages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To make it accessible for colorblind individuals, added random shapes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6874025" y="1189775"/>
            <a:ext cx="2064000" cy="3217850"/>
            <a:chOff x="6874025" y="1189775"/>
            <a:chExt cx="2064000" cy="3217850"/>
          </a:xfrm>
        </p:grpSpPr>
        <p:sp>
          <p:nvSpPr>
            <p:cNvPr id="105" name="Google Shape;105;p16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Feedback &amp; evolution</a:t>
              </a:r>
              <a:endParaRPr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iOS app used by 10+ peers, conducted another survey to quantify their feedback.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- We made many additions to the app, such as the boot time fix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- We also upgraded existing features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5195350" y="1189775"/>
            <a:ext cx="2064000" cy="3217850"/>
            <a:chOff x="5195350" y="1189775"/>
            <a:chExt cx="2064000" cy="3217850"/>
          </a:xfrm>
        </p:grpSpPr>
        <p:sp>
          <p:nvSpPr>
            <p:cNvPr id="108" name="Google Shape;108;p16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Testing &amp; iterating</a:t>
              </a:r>
              <a:endParaRPr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We constantly ran our app on an iPad, then went back to fix things. 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Inter SemiBold"/>
                  <a:ea typeface="Inter SemiBold"/>
                  <a:cs typeface="Inter SemiBold"/>
                  <a:sym typeface="Inter SemiBold"/>
                </a:rPr>
                <a:t>We fixed, boot time issues, deprecated code, and added random colors &amp; shapes.</a:t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105100" y="234600"/>
            <a:ext cx="798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Final</a:t>
            </a:r>
            <a:r>
              <a:rPr lang="en" sz="4300">
                <a:solidFill>
                  <a:srgbClr val="111827"/>
                </a:solidFill>
                <a:latin typeface="Inter Black"/>
                <a:ea typeface="Inter Black"/>
                <a:cs typeface="Inter Black"/>
                <a:sym typeface="Inter Black"/>
              </a:rPr>
              <a:t> </a:t>
            </a:r>
            <a:r>
              <a:rPr i="1" lang="en" sz="5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Project</a:t>
            </a:r>
            <a:endParaRPr i="1" sz="5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15" name="Google Shape;115;p17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116" name="Google Shape;116;p17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04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sp>
        <p:nvSpPr>
          <p:cNvPr id="118" name="Google Shape;118;p17"/>
          <p:cNvSpPr/>
          <p:nvPr/>
        </p:nvSpPr>
        <p:spPr>
          <a:xfrm>
            <a:off x="199519" y="1045795"/>
            <a:ext cx="2722500" cy="3594300"/>
          </a:xfrm>
          <a:prstGeom prst="roundRect">
            <a:avLst>
              <a:gd fmla="val 13304" name="adj"/>
            </a:avLst>
          </a:prstGeom>
          <a:solidFill>
            <a:srgbClr val="FDE68A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Live App: goganit.app (iOS)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Current features: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• AR mode: place &amp; count 3D spheres, visualise exponents in AR space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• GenAI quiz generator: single-digit through advanced arithmetic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• Story-based lesson flow with step-by-step pacing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• Calm, encouraging feedback system throughout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• Placement exam for automatic skill-level detection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 rotWithShape="1">
          <a:blip r:embed="rId3">
            <a:alphaModFix/>
          </a:blip>
          <a:srcRect b="44699" l="0" r="0" t="8015"/>
          <a:stretch/>
        </p:blipFill>
        <p:spPr>
          <a:xfrm>
            <a:off x="3074750" y="930787"/>
            <a:ext cx="3209677" cy="10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4749" y="2045663"/>
            <a:ext cx="3209675" cy="1119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3910" y="894888"/>
            <a:ext cx="2613151" cy="161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4750" y="3225762"/>
            <a:ext cx="3209675" cy="128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/>
          <p:cNvPicPr preferRelativeResize="0"/>
          <p:nvPr/>
        </p:nvPicPr>
        <p:blipFill rotWithShape="1">
          <a:blip r:embed="rId7">
            <a:alphaModFix/>
          </a:blip>
          <a:srcRect b="0" l="0" r="3985" t="0"/>
          <a:stretch/>
        </p:blipFill>
        <p:spPr>
          <a:xfrm>
            <a:off x="6351060" y="2589800"/>
            <a:ext cx="2658838" cy="197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105100" y="234600"/>
            <a:ext cx="798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Final</a:t>
            </a:r>
            <a:r>
              <a:rPr lang="en" sz="4300">
                <a:solidFill>
                  <a:srgbClr val="111827"/>
                </a:solidFill>
                <a:latin typeface="Inter Black"/>
                <a:ea typeface="Inter Black"/>
                <a:cs typeface="Inter Black"/>
                <a:sym typeface="Inter Black"/>
              </a:rPr>
              <a:t> </a:t>
            </a:r>
            <a:r>
              <a:rPr i="1" lang="en" sz="5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Project</a:t>
            </a:r>
            <a:endParaRPr i="1" sz="5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130" name="Google Shape;130;p18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04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2243" l="0" r="0" t="5088"/>
          <a:stretch/>
        </p:blipFill>
        <p:spPr>
          <a:xfrm>
            <a:off x="802000" y="811800"/>
            <a:ext cx="2017875" cy="4054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3672775" y="2550275"/>
            <a:ext cx="5241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https://ganit-phi.vercel.app/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 flipH="1" rot="5400000">
            <a:off x="4664268" y="673223"/>
            <a:ext cx="5143500" cy="3815964"/>
          </a:xfrm>
          <a:prstGeom prst="flowChartDocumen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5951140" y="333599"/>
            <a:ext cx="645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11827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40" name="Google Shape;140;p19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141" name="Google Shape;141;p19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05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sp>
        <p:nvSpPr>
          <p:cNvPr id="143" name="Google Shape;143;p19"/>
          <p:cNvSpPr txBox="1"/>
          <p:nvPr/>
        </p:nvSpPr>
        <p:spPr>
          <a:xfrm>
            <a:off x="105100" y="234600"/>
            <a:ext cx="798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MY</a:t>
            </a:r>
            <a:r>
              <a:rPr lang="en" sz="4300">
                <a:solidFill>
                  <a:srgbClr val="111827"/>
                </a:solidFill>
                <a:latin typeface="Inter Black"/>
                <a:ea typeface="Inter Black"/>
                <a:cs typeface="Inter Black"/>
                <a:sym typeface="Inter Black"/>
              </a:rPr>
              <a:t> </a:t>
            </a:r>
            <a:r>
              <a:rPr i="1" lang="en" sz="5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Growth &amp; Learnings</a:t>
            </a:r>
            <a:endParaRPr i="1" sz="51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60400" y="3556675"/>
            <a:ext cx="435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11827"/>
                </a:solidFill>
                <a:latin typeface="Roboto Mono"/>
                <a:ea typeface="Roboto Mono"/>
                <a:cs typeface="Roboto Mono"/>
                <a:sym typeface="Roboto Mono"/>
              </a:rPr>
              <a:t>Skills:</a:t>
            </a:r>
            <a:endParaRPr sz="1700">
              <a:solidFill>
                <a:srgbClr val="111827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291350" y="3834363"/>
            <a:ext cx="527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Coding: Swift, ARKit, RealityKit, genAI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Research: Academic papers, evidence-based design decisions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Leadership: Built and ran GoGanit team 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Resilience: Iterated across many failed prototypes and setbacks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 Time management: Balanced school and competitions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160400" y="873538"/>
            <a:ext cx="435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11827"/>
                </a:solidFill>
                <a:latin typeface="Roboto Mono"/>
                <a:ea typeface="Roboto Mono"/>
                <a:cs typeface="Roboto Mono"/>
                <a:sym typeface="Roboto Mono"/>
              </a:rPr>
              <a:t>Growth:</a:t>
            </a:r>
            <a:endParaRPr sz="1700">
              <a:solidFill>
                <a:srgbClr val="111827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291350" y="1254500"/>
            <a:ext cx="4263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 SemiBold"/>
              <a:buChar char="➔"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Display library deprecated mid-build → researched and changed to a supported alternative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 SemiBold"/>
              <a:buChar char="➔"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 boot time was 2+ minutes → optimised the loading flow to </a:t>
            </a: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around</a:t>
            </a: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20 seconds.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 SemiBold"/>
              <a:buChar char="➔"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 object placement was unintuitive &amp; painful→ redesigned placement UX (Flow of app) with visual guides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 SemiBold"/>
              <a:buChar char="➔"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 objects comes up at wrong scale → corrected coordinate system and radius values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 SemiBold"/>
              <a:buChar char="➔"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Invited classmates to join GoGanit team for collaborative testing and feedback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4554650" y="873550"/>
            <a:ext cx="435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Major Errors: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 SemiBold"/>
              <a:buChar char="-"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Picture-in-picture problems (took a week to fix!)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Inter SemiBold"/>
              <a:buChar char="-"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Accidentally put a radius of 20m (oops)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2151" y="1612462"/>
            <a:ext cx="2277125" cy="158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074" y="3292500"/>
            <a:ext cx="2524677" cy="17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0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156" name="Google Shape;156;p20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06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sp>
        <p:nvSpPr>
          <p:cNvPr id="158" name="Google Shape;158;p20"/>
          <p:cNvSpPr txBox="1"/>
          <p:nvPr/>
        </p:nvSpPr>
        <p:spPr>
          <a:xfrm>
            <a:off x="105100" y="234600"/>
            <a:ext cx="9039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HOW I USED AI</a:t>
            </a:r>
            <a:r>
              <a:rPr i="1" lang="en" sz="42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 </a:t>
            </a:r>
            <a:r>
              <a:rPr i="1" lang="en" sz="3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as a tool to amplify</a:t>
            </a:r>
            <a:endParaRPr i="1" sz="36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4933725" y="1041499"/>
            <a:ext cx="3978600" cy="3643800"/>
          </a:xfrm>
          <a:prstGeom prst="roundRect">
            <a:avLst>
              <a:gd fmla="val 13304" name="adj"/>
            </a:avLst>
          </a:prstGeom>
          <a:solidFill>
            <a:srgbClr val="FDE68A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ChatGPT, Claude, NotebookLM, Gemini, ARCore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- ChatGPT &amp; Claude: brainstorming features, refining story tone and lesson UX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- Gemini: auto-generated 540 questions (30 × 3 topics × 6 levels), then filtered and edited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- NotebookLM: organising research notes and academic citations (PubMed, IEEE, Google Scholar)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nter Medium"/>
                <a:ea typeface="Inter Medium"/>
                <a:cs typeface="Inter Medium"/>
                <a:sym typeface="Inter Medium"/>
              </a:rPr>
              <a:t>- ARKit + RealityKit + ARCore: building the immersive AR math experience</a:t>
            </a:r>
            <a:endParaRPr sz="120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336900" y="1041525"/>
            <a:ext cx="4356300" cy="3558300"/>
          </a:xfrm>
          <a:prstGeom prst="roundRect">
            <a:avLst>
              <a:gd fmla="val 13304" name="adj"/>
            </a:avLst>
          </a:prstGeom>
          <a:solidFill>
            <a:srgbClr val="FDE68A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●"/>
            </a:pPr>
            <a:r>
              <a:rPr lang="en">
                <a:latin typeface="Inter Medium"/>
                <a:ea typeface="Inter Medium"/>
                <a:cs typeface="Inter Medium"/>
                <a:sym typeface="Inter Medium"/>
              </a:rPr>
              <a:t>AI should make learning feel calm, personal, and encouraging, especially for children who learn differently.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●"/>
            </a:pPr>
            <a:r>
              <a:rPr lang="en">
                <a:latin typeface="Inter Medium"/>
                <a:ea typeface="Inter Medium"/>
                <a:cs typeface="Inter Medium"/>
                <a:sym typeface="Inter Medium"/>
              </a:rPr>
              <a:t>AR should augment both visual and color-blind learners with multi-sensory experiences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032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Medium"/>
              <a:buChar char="●"/>
            </a:pPr>
            <a:r>
              <a:rPr lang="en">
                <a:latin typeface="Inter Medium"/>
                <a:ea typeface="Inter Medium"/>
                <a:cs typeface="Inter Medium"/>
                <a:sym typeface="Inter Medium"/>
              </a:rPr>
              <a:t>Math can feel fun and adventurous, because children explore on their own. That is not because of preset curriculum which can also restrict their curiosities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1459653" y="906225"/>
            <a:ext cx="2110800" cy="275100"/>
          </a:xfrm>
          <a:prstGeom prst="roundRect">
            <a:avLst>
              <a:gd fmla="val 50000" name="adj"/>
            </a:avLst>
          </a:prstGeom>
          <a:solidFill>
            <a:srgbClr val="F87171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EB Garamond SemiBold"/>
                <a:ea typeface="EB Garamond SemiBold"/>
                <a:cs typeface="EB Garamond SemiBold"/>
                <a:sym typeface="EB Garamond SemiBold"/>
              </a:rPr>
              <a:t>My AI Philosophy</a:t>
            </a:r>
            <a:endParaRPr i="1" sz="16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5860713" y="906213"/>
            <a:ext cx="2019000" cy="275100"/>
          </a:xfrm>
          <a:prstGeom prst="roundRect">
            <a:avLst>
              <a:gd fmla="val 50000" name="adj"/>
            </a:avLst>
          </a:prstGeom>
          <a:solidFill>
            <a:srgbClr val="F87171"/>
          </a:solidFill>
          <a:ln cap="flat" cmpd="sng" w="1905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EB Garamond SemiBold"/>
                <a:ea typeface="EB Garamond SemiBold"/>
                <a:cs typeface="EB Garamond SemiBold"/>
                <a:sym typeface="EB Garamond SemiBold"/>
              </a:rPr>
              <a:t>AI Tools &amp; Resources</a:t>
            </a:r>
            <a:endParaRPr i="1" sz="16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102600" y="1436425"/>
            <a:ext cx="435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11827"/>
                </a:solidFill>
                <a:latin typeface="Roboto Mono"/>
                <a:ea typeface="Roboto Mono"/>
                <a:cs typeface="Roboto Mono"/>
                <a:sym typeface="Roboto Mono"/>
              </a:rPr>
              <a:t>Tangible Impact Thus Far</a:t>
            </a:r>
            <a:endParaRPr sz="1700">
              <a:solidFill>
                <a:srgbClr val="111827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8" name="Google Shape;168;p21"/>
          <p:cNvSpPr/>
          <p:nvPr/>
        </p:nvSpPr>
        <p:spPr>
          <a:xfrm flipH="1" rot="5400000">
            <a:off x="3954735" y="-45765"/>
            <a:ext cx="5143500" cy="5235030"/>
          </a:xfrm>
          <a:prstGeom prst="flowChartDocument">
            <a:avLst/>
          </a:prstGeom>
          <a:solidFill>
            <a:srgbClr val="FDE6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21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170" name="Google Shape;170;p21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07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sp>
        <p:nvSpPr>
          <p:cNvPr id="172" name="Google Shape;172;p21"/>
          <p:cNvSpPr txBox="1"/>
          <p:nvPr/>
        </p:nvSpPr>
        <p:spPr>
          <a:xfrm>
            <a:off x="146400" y="466425"/>
            <a:ext cx="890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WHY IT MATTERS</a:t>
            </a:r>
            <a:r>
              <a:rPr i="1" lang="en" sz="4500">
                <a:solidFill>
                  <a:srgbClr val="111827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 </a:t>
            </a:r>
            <a:r>
              <a:rPr i="1" lang="en" sz="42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Now &amp; Tomorrow</a:t>
            </a:r>
            <a:endParaRPr i="1" sz="42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4453500" y="2250175"/>
            <a:ext cx="4436400" cy="17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 $200 - Improve AR quality + age-specific curriculum</a:t>
            </a:r>
            <a:endParaRPr b="1" sz="1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 $1000 - 10 school outreach events at K–5 institutes ($100 each)</a:t>
            </a:r>
            <a:endParaRPr b="1" sz="1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 $500 - conduct 2 mental math hackathons at school (app users participate for free)</a:t>
            </a:r>
            <a:endParaRPr b="1" sz="1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 $100 - Cloud hosting for up to 1,000 users</a:t>
            </a:r>
            <a:endParaRPr b="1" sz="1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 $200 - AI chatbot for real-time in-app support</a:t>
            </a:r>
            <a:endParaRPr b="1" sz="1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 $500 - contingency + future development store (invest)</a:t>
            </a:r>
            <a:endParaRPr b="1" sz="1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Long-term vision: Make GANIT free and accessible to every child who struggles with math — everywhere.</a:t>
            </a:r>
            <a:endParaRPr b="1" sz="12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303000" y="1936275"/>
            <a:ext cx="3950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GANIT helps children with dyscalculia, ADHD, autism, and math anxiety learn math through calm, story-based, AR-powered lessons. Tested with classmates across multiple cycles with consistent positive feedback on the calm UX and AR mode.</a:t>
            </a:r>
            <a:endParaRPr sz="12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303000" y="3170200"/>
            <a:ext cx="39501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8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With $2,500 I would expand GANIT with richer AR, age-specific curriculum, school outreach events, cloud hosting for 1,000+ users, and a real-time AI chatbot. Long-term: make GANIT free and accessible to every child who struggles with math — everywhere.</a:t>
            </a:r>
            <a:endParaRPr sz="1200">
              <a:solidFill>
                <a:srgbClr val="98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709875" y="1311350"/>
            <a:ext cx="39501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11827"/>
                </a:solidFill>
              </a:rPr>
              <a:t>With $2,500, I would</a:t>
            </a:r>
            <a:endParaRPr b="1" sz="3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DF5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 flipH="1" rot="5400000">
            <a:off x="3843387" y="-157113"/>
            <a:ext cx="5143500" cy="5457726"/>
          </a:xfrm>
          <a:prstGeom prst="flowChartDocument">
            <a:avLst/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22"/>
          <p:cNvGrpSpPr/>
          <p:nvPr/>
        </p:nvGrpSpPr>
        <p:grpSpPr>
          <a:xfrm>
            <a:off x="8659987" y="4685192"/>
            <a:ext cx="390306" cy="361500"/>
            <a:chOff x="1993935" y="1105167"/>
            <a:chExt cx="396250" cy="361500"/>
          </a:xfrm>
        </p:grpSpPr>
        <p:sp>
          <p:nvSpPr>
            <p:cNvPr id="183" name="Google Shape;183;p22"/>
            <p:cNvSpPr/>
            <p:nvPr/>
          </p:nvSpPr>
          <p:spPr>
            <a:xfrm>
              <a:off x="2028685" y="1105167"/>
              <a:ext cx="361500" cy="361500"/>
            </a:xfrm>
            <a:prstGeom prst="ellipse">
              <a:avLst/>
            </a:prstGeom>
            <a:solidFill>
              <a:srgbClr val="111827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11827"/>
                </a:solidFill>
                <a:latin typeface="EB Garamond Medium"/>
                <a:ea typeface="EB Garamond Medium"/>
                <a:cs typeface="EB Garamond Medium"/>
                <a:sym typeface="EB Garamond Medium"/>
              </a:endParaRPr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1993935" y="1105167"/>
              <a:ext cx="361500" cy="361500"/>
            </a:xfrm>
            <a:prstGeom prst="ellipse">
              <a:avLst/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4570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11827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08</a:t>
              </a:r>
              <a:endParaRPr>
                <a:solidFill>
                  <a:srgbClr val="111827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sp>
        <p:nvSpPr>
          <p:cNvPr id="185" name="Google Shape;185;p22"/>
          <p:cNvSpPr txBox="1"/>
          <p:nvPr/>
        </p:nvSpPr>
        <p:spPr>
          <a:xfrm>
            <a:off x="99450" y="457275"/>
            <a:ext cx="8945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rgbClr val="111827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MY</a:t>
            </a:r>
            <a:r>
              <a:rPr lang="en" sz="4300">
                <a:solidFill>
                  <a:srgbClr val="111827"/>
                </a:solidFill>
                <a:latin typeface="Inter Black"/>
                <a:ea typeface="Inter Black"/>
                <a:cs typeface="Inter Black"/>
                <a:sym typeface="Inter Black"/>
              </a:rPr>
              <a:t> </a:t>
            </a:r>
            <a:r>
              <a:rPr i="1" lang="en" sz="7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Why</a:t>
            </a:r>
            <a:r>
              <a:rPr lang="en" sz="7500">
                <a:solidFill>
                  <a:srgbClr val="111827"/>
                </a:solidFill>
                <a:latin typeface="Inter Black"/>
                <a:ea typeface="Inter Black"/>
                <a:cs typeface="Inter Black"/>
                <a:sym typeface="Inter Black"/>
              </a:rPr>
              <a:t> </a:t>
            </a:r>
            <a:endParaRPr i="1" sz="7500">
              <a:solidFill>
                <a:srgbClr val="111827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grpSp>
        <p:nvGrpSpPr>
          <p:cNvPr id="186" name="Google Shape;186;p22"/>
          <p:cNvGrpSpPr/>
          <p:nvPr/>
        </p:nvGrpSpPr>
        <p:grpSpPr>
          <a:xfrm>
            <a:off x="5031000" y="299125"/>
            <a:ext cx="3467100" cy="1526675"/>
            <a:chOff x="424875" y="1011350"/>
            <a:chExt cx="3467100" cy="1526675"/>
          </a:xfrm>
        </p:grpSpPr>
        <p:sp>
          <p:nvSpPr>
            <p:cNvPr id="187" name="Google Shape;187;p22"/>
            <p:cNvSpPr/>
            <p:nvPr/>
          </p:nvSpPr>
          <p:spPr>
            <a:xfrm>
              <a:off x="424875" y="1204825"/>
              <a:ext cx="3467100" cy="1333200"/>
            </a:xfrm>
            <a:prstGeom prst="roundRect">
              <a:avLst>
                <a:gd fmla="val 13304" name="adj"/>
              </a:avLst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Inter Medium"/>
                  <a:ea typeface="Inter Medium"/>
                  <a:cs typeface="Inter Medium"/>
                  <a:sym typeface="Inter Medium"/>
                </a:rPr>
                <a:t>I developed coding (Swift, ARKit, RealityKit, genAI), research skills (reading academic papers), leadership (founding GoGanit), and resilience (learning from multiple setbacks and failed builds). I also learned how to give and receive feedback constructively.</a:t>
              </a:r>
              <a:endParaRPr sz="10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595450" y="1011350"/>
              <a:ext cx="1968000" cy="316500"/>
            </a:xfrm>
            <a:prstGeom prst="roundRect">
              <a:avLst>
                <a:gd fmla="val 50000" name="adj"/>
              </a:avLst>
            </a:prstGeom>
            <a:solidFill>
              <a:srgbClr val="F87171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600">
                  <a:latin typeface="EB Garamond SemiBold"/>
                  <a:ea typeface="EB Garamond SemiBold"/>
                  <a:cs typeface="EB Garamond SemiBold"/>
                  <a:sym typeface="EB Garamond SemiBold"/>
                </a:rPr>
                <a:t>How I’ve Grown</a:t>
              </a:r>
              <a:endParaRPr i="1" sz="1600">
                <a:latin typeface="EB Garamond SemiBold"/>
                <a:ea typeface="EB Garamond SemiBold"/>
                <a:cs typeface="EB Garamond SemiBold"/>
                <a:sym typeface="EB Garamond SemiBold"/>
              </a:endParaRPr>
            </a:p>
          </p:txBody>
        </p:sp>
      </p:grpSp>
      <p:grpSp>
        <p:nvGrpSpPr>
          <p:cNvPr id="189" name="Google Shape;189;p22"/>
          <p:cNvGrpSpPr/>
          <p:nvPr/>
        </p:nvGrpSpPr>
        <p:grpSpPr>
          <a:xfrm>
            <a:off x="5031000" y="2031966"/>
            <a:ext cx="3467100" cy="1433119"/>
            <a:chOff x="424875" y="2698094"/>
            <a:chExt cx="3467100" cy="1811324"/>
          </a:xfrm>
        </p:grpSpPr>
        <p:sp>
          <p:nvSpPr>
            <p:cNvPr id="190" name="Google Shape;190;p22"/>
            <p:cNvSpPr/>
            <p:nvPr/>
          </p:nvSpPr>
          <p:spPr>
            <a:xfrm>
              <a:off x="424875" y="2874418"/>
              <a:ext cx="3467100" cy="1635000"/>
            </a:xfrm>
            <a:prstGeom prst="roundRect">
              <a:avLst>
                <a:gd fmla="val 13304" name="adj"/>
              </a:avLst>
            </a:prstGeom>
            <a:solidFill>
              <a:srgbClr val="FDE68A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Inter Medium"/>
                  <a:ea typeface="Inter Medium"/>
                  <a:cs typeface="Inter Medium"/>
                  <a:sym typeface="Inter Medium"/>
                </a:rPr>
                <a:t>I now see myself as someone who can identify a real problem, build a solution from scratch, and keep improving through failure. GANIT taught me that technology is most powerful when it is built with empathy .</a:t>
              </a:r>
              <a:endParaRPr sz="1000"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91" name="Google Shape;191;p22"/>
            <p:cNvSpPr/>
            <p:nvPr/>
          </p:nvSpPr>
          <p:spPr>
            <a:xfrm>
              <a:off x="595450" y="2698094"/>
              <a:ext cx="1764000" cy="316500"/>
            </a:xfrm>
            <a:prstGeom prst="roundRect">
              <a:avLst>
                <a:gd fmla="val 50000" name="adj"/>
              </a:avLst>
            </a:prstGeom>
            <a:solidFill>
              <a:srgbClr val="F87171"/>
            </a:solidFill>
            <a:ln cap="flat" cmpd="sng" w="19050">
              <a:solidFill>
                <a:srgbClr val="1118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600">
                  <a:solidFill>
                    <a:schemeClr val="dk1"/>
                  </a:solidFill>
                  <a:latin typeface="EB Garamond SemiBold"/>
                  <a:ea typeface="EB Garamond SemiBold"/>
                  <a:cs typeface="EB Garamond SemiBold"/>
                  <a:sym typeface="EB Garamond SemiBold"/>
                </a:rPr>
                <a:t>Looking Ahead</a:t>
              </a:r>
              <a:endParaRPr i="1" sz="1600">
                <a:latin typeface="EB Garamond SemiBold"/>
                <a:ea typeface="EB Garamond SemiBold"/>
                <a:cs typeface="EB Garamond SemiBold"/>
                <a:sym typeface="EB Garamond SemiBold"/>
              </a:endParaRPr>
            </a:p>
          </p:txBody>
        </p:sp>
      </p:grpSp>
      <p:sp>
        <p:nvSpPr>
          <p:cNvPr id="192" name="Google Shape;192;p22"/>
          <p:cNvSpPr txBox="1"/>
          <p:nvPr/>
        </p:nvSpPr>
        <p:spPr>
          <a:xfrm>
            <a:off x="5063100" y="3563625"/>
            <a:ext cx="34029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b="1" i="1" lang="en" sz="1060">
                <a:solidFill>
                  <a:srgbClr val="1D1C1D"/>
                </a:solidFill>
                <a:latin typeface="Inter"/>
                <a:ea typeface="Inter"/>
                <a:cs typeface="Inter"/>
                <a:sym typeface="Inter"/>
              </a:rPr>
              <a:t>My north star is making Math feel safe, calm, and possible for every child — especially those who have been told they are not a “math person.” GANIT is my first step toward that goal, and I plan to keep building.</a:t>
            </a:r>
            <a:endParaRPr b="1" i="1" sz="106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626425" y="46889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BC014"/>
                </a:highlight>
                <a:latin typeface="Manrope"/>
                <a:ea typeface="Manrope"/>
                <a:cs typeface="Manrope"/>
                <a:sym typeface="Manrope"/>
              </a:rPr>
              <a:t>[Insert photo of Aarav here]</a:t>
            </a:r>
            <a:endParaRPr b="1" sz="1100">
              <a:solidFill>
                <a:schemeClr val="dk1"/>
              </a:solidFill>
              <a:highlight>
                <a:srgbClr val="FBC014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